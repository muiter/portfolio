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744" r:id="rId3"/>
    <p:sldMasterId id="2147483756" r:id="rId4"/>
  </p:sldMasterIdLst>
  <p:notesMasterIdLst>
    <p:notesMasterId r:id="rId29"/>
  </p:notesMasterIdLst>
  <p:sldIdLst>
    <p:sldId id="256" r:id="rId5"/>
    <p:sldId id="269" r:id="rId6"/>
    <p:sldId id="260" r:id="rId7"/>
    <p:sldId id="262" r:id="rId8"/>
    <p:sldId id="265" r:id="rId9"/>
    <p:sldId id="268" r:id="rId10"/>
    <p:sldId id="267" r:id="rId11"/>
    <p:sldId id="282" r:id="rId12"/>
    <p:sldId id="285" r:id="rId13"/>
    <p:sldId id="286" r:id="rId14"/>
    <p:sldId id="293" r:id="rId15"/>
    <p:sldId id="294" r:id="rId16"/>
    <p:sldId id="279" r:id="rId17"/>
    <p:sldId id="280" r:id="rId18"/>
    <p:sldId id="281" r:id="rId19"/>
    <p:sldId id="287" r:id="rId20"/>
    <p:sldId id="288" r:id="rId21"/>
    <p:sldId id="284" r:id="rId22"/>
    <p:sldId id="266" r:id="rId23"/>
    <p:sldId id="274" r:id="rId24"/>
    <p:sldId id="295" r:id="rId25"/>
    <p:sldId id="296" r:id="rId26"/>
    <p:sldId id="297" r:id="rId27"/>
    <p:sldId id="29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942" autoAdjust="0"/>
  </p:normalViewPr>
  <p:slideViewPr>
    <p:cSldViewPr>
      <p:cViewPr>
        <p:scale>
          <a:sx n="60" d="100"/>
          <a:sy n="6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98CDE-FB35-451D-A1D2-0C6745CB15F3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77751-F971-4662-902E-CB2B4EDF6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08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47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800" b="1" dirty="0" smtClean="0"/>
              <a:t>Name</a:t>
            </a:r>
          </a:p>
          <a:p>
            <a:r>
              <a:rPr lang="en-US" sz="4800" b="1" dirty="0" smtClean="0"/>
              <a:t>School</a:t>
            </a:r>
            <a:r>
              <a:rPr lang="en-US" sz="4800" b="1" baseline="0" dirty="0" smtClean="0"/>
              <a:t> </a:t>
            </a:r>
          </a:p>
          <a:p>
            <a:r>
              <a:rPr lang="en-US" sz="4800" b="1" baseline="0" dirty="0" smtClean="0"/>
              <a:t>Position</a:t>
            </a:r>
            <a:endParaRPr lang="en-US" sz="5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20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27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shows the process from conception of the outfit</a:t>
            </a:r>
            <a:r>
              <a:rPr lang="en-US" baseline="0" dirty="0" smtClean="0"/>
              <a:t> to compilation of outfit SKUs to the </a:t>
            </a:r>
            <a:r>
              <a:rPr lang="en-US" baseline="0" dirty="0" err="1" smtClean="0"/>
              <a:t>photoshoot</a:t>
            </a:r>
            <a:r>
              <a:rPr lang="en-US" baseline="0" dirty="0" smtClean="0"/>
              <a:t> of the model to publishing on the website.</a:t>
            </a:r>
          </a:p>
          <a:p>
            <a:endParaRPr lang="en-US" i="1" baseline="0" dirty="0" smtClean="0"/>
          </a:p>
          <a:p>
            <a:r>
              <a:rPr lang="en-US" i="1" baseline="0" dirty="0" smtClean="0"/>
              <a:t>Briefly explain process</a:t>
            </a:r>
          </a:p>
          <a:p>
            <a:endParaRPr lang="en-US" i="1" dirty="0" smtClean="0"/>
          </a:p>
          <a:p>
            <a:r>
              <a:rPr lang="en-US" b="1" dirty="0" smtClean="0"/>
              <a:t>39 days</a:t>
            </a:r>
            <a:r>
              <a:rPr lang="en-US" b="1" baseline="0" dirty="0" smtClean="0"/>
              <a:t> on average </a:t>
            </a:r>
            <a:r>
              <a:rPr lang="en-US" b="0" baseline="0" dirty="0" smtClean="0"/>
              <a:t>process </a:t>
            </a:r>
            <a:r>
              <a:rPr lang="en-US" baseline="0" dirty="0" smtClean="0"/>
              <a:t>for 1 outfit.</a:t>
            </a:r>
          </a:p>
          <a:p>
            <a:r>
              <a:rPr lang="en-US" b="1" baseline="0" dirty="0" smtClean="0"/>
              <a:t>80-100 outfits</a:t>
            </a:r>
            <a:r>
              <a:rPr lang="en-US" baseline="0" dirty="0" smtClean="0"/>
              <a:t> are created a month – </a:t>
            </a:r>
            <a:r>
              <a:rPr lang="en-US" b="0" baseline="0" dirty="0" smtClean="0"/>
              <a:t>for outfits page and heroes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33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This is meant to be overwhelming. </a:t>
            </a:r>
          </a:p>
          <a:p>
            <a:endParaRPr lang="en-US" i="1" dirty="0" smtClean="0"/>
          </a:p>
          <a:p>
            <a:r>
              <a:rPr lang="en-US" i="1" dirty="0" smtClean="0"/>
              <a:t>9 different things are need t</a:t>
            </a:r>
            <a:r>
              <a:rPr lang="en-US" i="1" baseline="0" dirty="0" smtClean="0"/>
              <a:t>o be used over a 39 day period to create one outfit on a model and publish it on a website.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8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Must be </a:t>
            </a:r>
            <a:r>
              <a:rPr lang="en-US" sz="1200" b="1" dirty="0" smtClean="0"/>
              <a:t>intuitive and streamlined </a:t>
            </a:r>
            <a:r>
              <a:rPr lang="en-US" sz="1200" dirty="0" smtClean="0"/>
              <a:t>for </a:t>
            </a:r>
            <a:r>
              <a:rPr lang="en-US" sz="1200" b="1" dirty="0" smtClean="0">
                <a:solidFill>
                  <a:schemeClr val="accent1"/>
                </a:solidFill>
              </a:rPr>
              <a:t>6 unique roles </a:t>
            </a:r>
            <a:r>
              <a:rPr lang="en-US" sz="1200" dirty="0" smtClean="0"/>
              <a:t>consisting of 35 users</a:t>
            </a:r>
          </a:p>
          <a:p>
            <a:endParaRPr lang="en-US" sz="1200" dirty="0" smtClean="0"/>
          </a:p>
          <a:p>
            <a:r>
              <a:rPr lang="en-US" sz="1200" dirty="0" smtClean="0"/>
              <a:t>Must be </a:t>
            </a:r>
            <a:r>
              <a:rPr lang="en-US" sz="1200" b="1" dirty="0" smtClean="0"/>
              <a:t>technically compatible </a:t>
            </a:r>
            <a:r>
              <a:rPr lang="en-US" sz="1200" dirty="0" smtClean="0"/>
              <a:t>using Amazon systems/taxonomy</a:t>
            </a:r>
          </a:p>
          <a:p>
            <a:endParaRPr lang="en-US" sz="1200" dirty="0" smtClean="0"/>
          </a:p>
          <a:p>
            <a:r>
              <a:rPr lang="en-US" sz="1200" dirty="0" smtClean="0"/>
              <a:t>Anticipate outfit building </a:t>
            </a:r>
            <a:r>
              <a:rPr lang="en-US" sz="1200" b="1" dirty="0" smtClean="0"/>
              <a:t>process changes </a:t>
            </a:r>
            <a:r>
              <a:rPr lang="en-US" sz="1200" dirty="0" smtClean="0"/>
              <a:t>due to migration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01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Large</a:t>
            </a:r>
            <a:r>
              <a:rPr lang="en-US" b="1" baseline="0" dirty="0" smtClean="0"/>
              <a:t> Dev team </a:t>
            </a:r>
            <a:r>
              <a:rPr lang="en-US" baseline="0" dirty="0" smtClean="0"/>
              <a:t>– Scrum begins to become more difficult to manage with teams 9 -12 people….we had 9!</a:t>
            </a:r>
          </a:p>
          <a:p>
            <a:endParaRPr lang="en-US" dirty="0" smtClean="0"/>
          </a:p>
          <a:p>
            <a:r>
              <a:rPr lang="en-US" b="1" dirty="0" smtClean="0"/>
              <a:t>Limited time</a:t>
            </a:r>
            <a:r>
              <a:rPr lang="en-US" dirty="0" smtClean="0"/>
              <a:t> – approx. 6 weeks of</a:t>
            </a:r>
            <a:r>
              <a:rPr lang="en-US" baseline="0" dirty="0" smtClean="0"/>
              <a:t> actual sprint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1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92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sent out a survey to gauge</a:t>
            </a:r>
            <a:r>
              <a:rPr lang="en-US" baseline="0" dirty="0" smtClean="0"/>
              <a:t> past experience with agile.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Previously,</a:t>
            </a:r>
            <a:r>
              <a:rPr lang="en-US" baseline="0" dirty="0" smtClean="0"/>
              <a:t> only 2 members of the team have had experience with scrum.</a:t>
            </a:r>
          </a:p>
          <a:p>
            <a:r>
              <a:rPr lang="en-US" baseline="0" dirty="0" smtClean="0"/>
              <a:t>1/3 of the team has </a:t>
            </a:r>
            <a:r>
              <a:rPr lang="en-US" i="1" baseline="0" dirty="0" smtClean="0"/>
              <a:t>never even heard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37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On a self-rated system from 1-10,</a:t>
            </a:r>
            <a:r>
              <a:rPr lang="en-US" i="1" baseline="0" dirty="0" smtClean="0"/>
              <a:t> </a:t>
            </a:r>
            <a:r>
              <a:rPr lang="en-US" baseline="0" dirty="0" smtClean="0"/>
              <a:t>Outfit Builder team members rated their </a:t>
            </a:r>
            <a:r>
              <a:rPr lang="en-US" b="1" baseline="0" dirty="0" smtClean="0"/>
              <a:t>understanding of agile at an average of 1.25.</a:t>
            </a:r>
          </a:p>
          <a:p>
            <a:r>
              <a:rPr lang="en-US" b="1" baseline="0" dirty="0" smtClean="0"/>
              <a:t>After</a:t>
            </a:r>
            <a:r>
              <a:rPr lang="en-US" baseline="0" dirty="0" smtClean="0"/>
              <a:t> performing on the Outfit Builder project, the team </a:t>
            </a:r>
            <a:r>
              <a:rPr lang="en-US" b="1" baseline="0" dirty="0" smtClean="0"/>
              <a:t>self-rated their understanding of agile at an average of 8.125.</a:t>
            </a:r>
          </a:p>
          <a:p>
            <a:endParaRPr lang="en-US" b="0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0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used Confluence</a:t>
            </a:r>
            <a:r>
              <a:rPr lang="en-US" baseline="0" dirty="0" smtClean="0"/>
              <a:t> to organize our information and communication – the information that would be on JIRA was included on the page.</a:t>
            </a:r>
            <a:endParaRPr lang="en-US" dirty="0" smtClean="0"/>
          </a:p>
          <a:p>
            <a:r>
              <a:rPr lang="en-US" dirty="0" smtClean="0"/>
              <a:t>This</a:t>
            </a:r>
            <a:r>
              <a:rPr lang="en-US" baseline="0" dirty="0" smtClean="0"/>
              <a:t> is an example of our sprint page with our </a:t>
            </a:r>
            <a:r>
              <a:rPr lang="en-US" b="1" baseline="0" dirty="0" smtClean="0"/>
              <a:t>Sprint name, Retrospective Commitments, and stories committed to in the sprint.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81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Each feature page had a feature </a:t>
            </a:r>
            <a:r>
              <a:rPr lang="en-US" b="1" baseline="0" dirty="0" smtClean="0"/>
              <a:t>Description, Dev Plan (if necessary), User Stories, Acceptance Criteria, and Mockups (if necessary).</a:t>
            </a:r>
          </a:p>
          <a:p>
            <a:endParaRPr lang="en-US" b="1" baseline="0" dirty="0" smtClean="0"/>
          </a:p>
          <a:p>
            <a:r>
              <a:rPr lang="en-US" b="0" dirty="0" smtClean="0"/>
              <a:t>The</a:t>
            </a:r>
            <a:r>
              <a:rPr lang="en-US" b="0" baseline="0" dirty="0" smtClean="0"/>
              <a:t> purpose of these pages is to help the developers have all the resources needed to create the feature.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02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Scrum</a:t>
            </a:r>
            <a:r>
              <a:rPr lang="en-US" baseline="0" dirty="0" smtClean="0"/>
              <a:t> board – used </a:t>
            </a:r>
            <a:r>
              <a:rPr lang="en-US" b="1" baseline="0" dirty="0" smtClean="0"/>
              <a:t>“Code Review” instead of “QA” </a:t>
            </a:r>
            <a:r>
              <a:rPr lang="en-US" baseline="0" dirty="0" smtClean="0"/>
              <a:t>because we didn’t have a QA resource. Code review – team members who were available</a:t>
            </a:r>
          </a:p>
          <a:p>
            <a:endParaRPr lang="en-US" baseline="0" dirty="0" smtClean="0"/>
          </a:p>
          <a:p>
            <a:r>
              <a:rPr lang="en-US" baseline="0" dirty="0" smtClean="0"/>
              <a:t>Product Managers tested the features. </a:t>
            </a:r>
            <a:r>
              <a:rPr lang="en-US" b="1" baseline="0" dirty="0" smtClean="0"/>
              <a:t>Bugs went onto a “Bugs” page</a:t>
            </a:r>
            <a:r>
              <a:rPr lang="en-US" baseline="0" dirty="0" smtClean="0"/>
              <a:t> for review. Bugs were fixed as bandwidth opened up for developers.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“Sprint Ready”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90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took Retrospectives very seriously as a new team</a:t>
            </a:r>
            <a:r>
              <a:rPr lang="en-US" baseline="0" dirty="0" smtClean="0"/>
              <a:t>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We did the “Start” “Stop” “Continue” exercise.</a:t>
            </a:r>
          </a:p>
          <a:p>
            <a:r>
              <a:rPr lang="en-US" baseline="0" dirty="0" smtClean="0"/>
              <a:t>*Briefly talk about some of the sticky notes*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1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Commitments</a:t>
            </a:r>
            <a:r>
              <a:rPr lang="en-US" baseline="0" dirty="0" smtClean="0"/>
              <a:t> for the next sprint would come out of the retrospectives.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This was the result of our first retrospective – I believe our team was in the “Storming” stage of group development.</a:t>
            </a:r>
          </a:p>
          <a:p>
            <a:r>
              <a:rPr lang="en-US" baseline="0" dirty="0" smtClean="0"/>
              <a:t>			Forming, </a:t>
            </a:r>
            <a:r>
              <a:rPr lang="en-US" b="1" u="sng" baseline="0" dirty="0" smtClean="0"/>
              <a:t>Storming</a:t>
            </a:r>
            <a:r>
              <a:rPr lang="en-US" baseline="0" dirty="0" smtClean="0"/>
              <a:t>, Norming, Performing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3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Laurie (UX)</a:t>
            </a:r>
            <a:r>
              <a:rPr lang="en-US" baseline="0" dirty="0" smtClean="0"/>
              <a:t> created prototypes using </a:t>
            </a:r>
            <a:r>
              <a:rPr lang="en-US" baseline="0" dirty="0" err="1" smtClean="0"/>
              <a:t>Axure</a:t>
            </a:r>
            <a:r>
              <a:rPr lang="en-US" baseline="0" dirty="0" smtClean="0"/>
              <a:t> for Maggie (UR) to user test and gather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84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*These</a:t>
            </a:r>
            <a:r>
              <a:rPr lang="en-US" b="1" baseline="0" dirty="0" smtClean="0"/>
              <a:t> users will be in the audience* </a:t>
            </a:r>
          </a:p>
          <a:p>
            <a:r>
              <a:rPr lang="en-US" baseline="0" dirty="0" smtClean="0"/>
              <a:t>After one click – “THANK YOU” will appear.   Give them a shout out ;)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87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Outfit builder will streamline the entire process and communication</a:t>
            </a:r>
            <a:r>
              <a:rPr lang="en-US" baseline="0" dirty="0" smtClean="0"/>
              <a:t> within the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10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RELEASE PLANNING</a:t>
            </a:r>
            <a:r>
              <a:rPr lang="en-US" dirty="0" smtClean="0"/>
              <a:t> – Our</a:t>
            </a:r>
            <a:r>
              <a:rPr lang="en-US" baseline="0" dirty="0" smtClean="0"/>
              <a:t> roadmap is in </a:t>
            </a:r>
            <a:r>
              <a:rPr lang="en-US" i="1" baseline="0" dirty="0" smtClean="0"/>
              <a:t>version release planning </a:t>
            </a:r>
            <a:r>
              <a:rPr lang="en-US" baseline="0" dirty="0" smtClean="0"/>
              <a:t>because we don’t know when a team will pick up the project or how long it will take the next team to complete each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285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USB</a:t>
            </a:r>
            <a:r>
              <a:rPr lang="en-US" dirty="0" smtClean="0"/>
              <a:t> =</a:t>
            </a:r>
            <a:r>
              <a:rPr lang="en-US" baseline="0" dirty="0" smtClean="0"/>
              <a:t> manual transfer from </a:t>
            </a:r>
            <a:r>
              <a:rPr lang="en-US" baseline="0" dirty="0" err="1" smtClean="0"/>
              <a:t>photostudio</a:t>
            </a:r>
            <a:r>
              <a:rPr lang="en-US" baseline="0" dirty="0" smtClean="0"/>
              <a:t> to Stylists</a:t>
            </a:r>
          </a:p>
          <a:p>
            <a:r>
              <a:rPr lang="en-US" b="1" baseline="0" dirty="0" smtClean="0"/>
              <a:t>Email</a:t>
            </a:r>
            <a:r>
              <a:rPr lang="en-US" baseline="0" dirty="0" smtClean="0"/>
              <a:t> </a:t>
            </a:r>
            <a:r>
              <a:rPr lang="en-US" b="1" baseline="0" dirty="0" smtClean="0"/>
              <a:t>icon</a:t>
            </a:r>
            <a:r>
              <a:rPr lang="en-US" baseline="0" dirty="0" smtClean="0"/>
              <a:t> = some email messaging required</a:t>
            </a:r>
          </a:p>
          <a:p>
            <a:endParaRPr lang="en-US" baseline="0" dirty="0" smtClean="0"/>
          </a:p>
          <a:p>
            <a:r>
              <a:rPr lang="en-US" baseline="0" dirty="0" smtClean="0"/>
              <a:t>No more JIRA, </a:t>
            </a:r>
            <a:r>
              <a:rPr lang="en-US" baseline="0" dirty="0" err="1" smtClean="0"/>
              <a:t>iZoogle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Zapporo</a:t>
            </a:r>
            <a:r>
              <a:rPr lang="en-US" baseline="0" dirty="0" smtClean="0"/>
              <a:t>, Excel, or SOJU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22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Profiles</a:t>
            </a:r>
            <a:r>
              <a:rPr lang="en-US" b="1" baseline="0" dirty="0" smtClean="0"/>
              <a:t> and Notifications</a:t>
            </a:r>
            <a:r>
              <a:rPr lang="en-US" b="0" baseline="0" dirty="0" smtClean="0"/>
              <a:t> will eliminate direct email.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728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Centralized Google Doc Replacement</a:t>
            </a:r>
            <a:r>
              <a:rPr lang="en-US" b="0" dirty="0" smtClean="0"/>
              <a:t> will remove the Google Doc and</a:t>
            </a:r>
            <a:r>
              <a:rPr lang="en-US" b="0" baseline="0" dirty="0" smtClean="0"/>
              <a:t> have the buyers use Outfit Builder earlier in the process.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392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Ordering Capability and Photo</a:t>
            </a:r>
            <a:r>
              <a:rPr lang="en-US" b="1" baseline="0" dirty="0" smtClean="0"/>
              <a:t> Upload Capability</a:t>
            </a:r>
            <a:r>
              <a:rPr lang="en-US" b="0" baseline="0" dirty="0" smtClean="0"/>
              <a:t> will eliminate the need for manually transferring files between the </a:t>
            </a:r>
            <a:r>
              <a:rPr lang="en-US" b="0" baseline="0" dirty="0" err="1" smtClean="0"/>
              <a:t>photostudio</a:t>
            </a:r>
            <a:r>
              <a:rPr lang="en-US" b="0" baseline="0" dirty="0" smtClean="0"/>
              <a:t> and the Stylists. Ordering Capability will assist production in ordering clothes necessary for the model.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117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time saved is due to</a:t>
            </a:r>
            <a:r>
              <a:rPr lang="en-US" baseline="0" dirty="0" smtClean="0"/>
              <a:t> parts of the process no longer being needed and streamlined communication between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77751-F971-4662-902E-CB2B4EDF65D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9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81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47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70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72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95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851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54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16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4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024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13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7144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7350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5642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9506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0924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2149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9883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28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366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0431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2443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0627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9116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8167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6336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2527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1968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8725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9196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6951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11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BDB88-E5A5-40D7-90E1-66CD8C125D74}" type="datetimeFigureOut">
              <a:rPr lang="en-US" smtClean="0"/>
              <a:t>8/15/2014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AB95D-8000-4C52-82BE-FE14DFA3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2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43BBDB88-E5A5-40D7-90E1-66CD8C125D74}" type="datetimeFigureOut">
              <a:rPr lang="en-US" smtClean="0">
                <a:solidFill>
                  <a:srgbClr val="FFFFFF"/>
                </a:solidFill>
              </a:rPr>
              <a:pPr/>
              <a:t>8/15/2014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5A1AB95D-8000-4C52-82BE-FE14DFA323C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17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BDB88-E5A5-40D7-90E1-66CD8C125D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8/15/2014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AB95D-8000-4C52-82BE-FE14DFA323C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67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Outfit Builder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08.14.2014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96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762000" y="2974694"/>
            <a:ext cx="4038599" cy="2835797"/>
          </a:xfrm>
        </p:spPr>
        <p:txBody>
          <a:bodyPr/>
          <a:lstStyle/>
          <a:p>
            <a:r>
              <a:rPr lang="en-US" dirty="0" smtClean="0"/>
              <a:t>Jared O’Rourke – PM</a:t>
            </a:r>
          </a:p>
          <a:p>
            <a:r>
              <a:rPr lang="en-US" dirty="0" smtClean="0"/>
              <a:t>Neha Kesari – PM</a:t>
            </a:r>
          </a:p>
          <a:p>
            <a:r>
              <a:rPr lang="en-US" dirty="0" smtClean="0"/>
              <a:t>Laurie Cai – UX</a:t>
            </a:r>
          </a:p>
          <a:p>
            <a:r>
              <a:rPr lang="en-US" dirty="0" smtClean="0"/>
              <a:t>Maggie Paveza – UR</a:t>
            </a:r>
          </a:p>
          <a:p>
            <a:r>
              <a:rPr lang="en-US" dirty="0" smtClean="0"/>
              <a:t>Bryan Goodyear - TPM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3000" y="3048000"/>
            <a:ext cx="3736848" cy="2835797"/>
          </a:xfrm>
        </p:spPr>
        <p:txBody>
          <a:bodyPr/>
          <a:lstStyle/>
          <a:p>
            <a:r>
              <a:rPr lang="en-US" dirty="0" smtClean="0"/>
              <a:t>Nishant Bansal – BEZ</a:t>
            </a:r>
          </a:p>
          <a:p>
            <a:r>
              <a:rPr lang="en-US" dirty="0" smtClean="0"/>
              <a:t>Kaitlin Huben – BEZ</a:t>
            </a:r>
          </a:p>
          <a:p>
            <a:r>
              <a:rPr lang="en-US" dirty="0" smtClean="0"/>
              <a:t>Matthew Muiter – FEZ</a:t>
            </a:r>
          </a:p>
          <a:p>
            <a:r>
              <a:rPr lang="en-US" dirty="0" smtClean="0"/>
              <a:t>Julian Owyong – FEZ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7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4000948"/>
          </a:xfrm>
        </p:spPr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600" dirty="0" smtClean="0"/>
              <a:t>The Problem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600" dirty="0" smtClean="0"/>
              <a:t>Our Solution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600" dirty="0" smtClean="0"/>
              <a:t>Demo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600" dirty="0" smtClean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56013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" t="1613" r="2707" b="33876"/>
          <a:stretch/>
        </p:blipFill>
        <p:spPr>
          <a:xfrm>
            <a:off x="0" y="1143000"/>
            <a:ext cx="9150350" cy="4565650"/>
          </a:xfrm>
        </p:spPr>
      </p:pic>
    </p:spTree>
    <p:extLst>
      <p:ext uri="{BB962C8B-B14F-4D97-AF65-F5344CB8AC3E}">
        <p14:creationId xmlns:p14="http://schemas.microsoft.com/office/powerpoint/2010/main" val="338779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4561"/>
            <a:ext cx="4191000" cy="26193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4181475"/>
            <a:ext cx="4419600" cy="2762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2400" cy="2476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4343400"/>
            <a:ext cx="4572000" cy="27342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095" y="0"/>
            <a:ext cx="3124905" cy="2377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240" y="2051152"/>
            <a:ext cx="3810000" cy="2130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-90436"/>
            <a:ext cx="2971800" cy="179100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1495365"/>
            <a:ext cx="34243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Google Doc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52354" y="907467"/>
            <a:ext cx="16037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Excel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88615" y="3258145"/>
            <a:ext cx="32830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Zappos</a:t>
            </a:r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VIP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67242" y="5734749"/>
            <a:ext cx="1358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JIRA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12503" y="5710517"/>
            <a:ext cx="1616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SOJU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2400" y="3418164"/>
            <a:ext cx="25265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Zapporo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idx="1"/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116" y="3522999"/>
            <a:ext cx="3344564" cy="2090353"/>
          </a:xfr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51" y="1700569"/>
            <a:ext cx="2284095" cy="228409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670152" y="4658914"/>
            <a:ext cx="22170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iZoogle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596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Main Considerations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Must be </a:t>
            </a:r>
            <a:r>
              <a:rPr lang="en-US" sz="2800" b="1" dirty="0" smtClean="0"/>
              <a:t>intuitive and streamlined </a:t>
            </a:r>
            <a:r>
              <a:rPr lang="en-US" sz="2800" dirty="0"/>
              <a:t>for </a:t>
            </a:r>
            <a:r>
              <a:rPr lang="en-US" sz="2800" b="1" dirty="0">
                <a:solidFill>
                  <a:schemeClr val="accent1"/>
                </a:solidFill>
              </a:rPr>
              <a:t>6 unique roles </a:t>
            </a:r>
            <a:r>
              <a:rPr lang="en-US" sz="2800" dirty="0"/>
              <a:t>consisting of </a:t>
            </a:r>
            <a:r>
              <a:rPr lang="en-US" sz="2800" dirty="0" smtClean="0"/>
              <a:t>35 users</a:t>
            </a:r>
            <a:endParaRPr lang="en-US" sz="2800" dirty="0"/>
          </a:p>
          <a:p>
            <a:r>
              <a:rPr lang="en-US" sz="2800" dirty="0"/>
              <a:t>Must be </a:t>
            </a:r>
            <a:r>
              <a:rPr lang="en-US" sz="2800" b="1" dirty="0"/>
              <a:t>technically compatible </a:t>
            </a:r>
            <a:r>
              <a:rPr lang="en-US" sz="2800" dirty="0"/>
              <a:t>using Amazon systems/taxonomy</a:t>
            </a:r>
          </a:p>
          <a:p>
            <a:r>
              <a:rPr lang="en-US" sz="2800" dirty="0" smtClean="0"/>
              <a:t>Anticipate outfit building </a:t>
            </a:r>
            <a:r>
              <a:rPr lang="en-US" sz="2800" b="1" dirty="0" smtClean="0"/>
              <a:t>process changes </a:t>
            </a:r>
            <a:r>
              <a:rPr lang="en-US" sz="2800" dirty="0" smtClean="0"/>
              <a:t>due to migration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999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338508" cy="3508977"/>
          </a:xfrm>
        </p:spPr>
        <p:txBody>
          <a:bodyPr/>
          <a:lstStyle/>
          <a:p>
            <a:r>
              <a:rPr lang="en-US" dirty="0" smtClean="0"/>
              <a:t>New to </a:t>
            </a:r>
            <a:r>
              <a:rPr lang="en-US" b="1" dirty="0" err="1" smtClean="0"/>
              <a:t>Zappos</a:t>
            </a:r>
            <a:endParaRPr lang="en-US" b="1" dirty="0" smtClean="0"/>
          </a:p>
          <a:p>
            <a:r>
              <a:rPr lang="en-US" dirty="0" smtClean="0"/>
              <a:t>New to </a:t>
            </a:r>
            <a:r>
              <a:rPr lang="en-US" b="1" dirty="0" smtClean="0"/>
              <a:t>Outfit Builder</a:t>
            </a:r>
          </a:p>
          <a:p>
            <a:r>
              <a:rPr lang="en-US" dirty="0" smtClean="0"/>
              <a:t>Lack of experience with </a:t>
            </a:r>
            <a:r>
              <a:rPr lang="en-US" b="1" dirty="0" smtClean="0"/>
              <a:t>Scrum</a:t>
            </a:r>
          </a:p>
          <a:p>
            <a:r>
              <a:rPr lang="en-US" dirty="0" smtClean="0"/>
              <a:t>Collaborating in </a:t>
            </a:r>
            <a:r>
              <a:rPr lang="en-US" b="1" dirty="0"/>
              <a:t>large </a:t>
            </a:r>
            <a:r>
              <a:rPr lang="en-US" b="1" dirty="0" smtClean="0"/>
              <a:t>software </a:t>
            </a:r>
            <a:r>
              <a:rPr lang="en-US" b="1" dirty="0" err="1" smtClean="0"/>
              <a:t>dev</a:t>
            </a:r>
            <a:r>
              <a:rPr lang="en-US" b="1" dirty="0" smtClean="0"/>
              <a:t> team</a:t>
            </a:r>
          </a:p>
          <a:p>
            <a:r>
              <a:rPr lang="en-US" b="1" dirty="0" smtClean="0">
                <a:solidFill>
                  <a:schemeClr val="accent1"/>
                </a:solidFill>
              </a:rPr>
              <a:t>Limited Time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36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4153348"/>
          </a:xfrm>
        </p:spPr>
        <p:txBody>
          <a:bodyPr>
            <a:normAutofit/>
          </a:bodyPr>
          <a:lstStyle/>
          <a:p>
            <a:r>
              <a:rPr lang="en-US" b="1" dirty="0" smtClean="0"/>
              <a:t>Scrum</a:t>
            </a:r>
          </a:p>
          <a:p>
            <a:pPr lvl="1"/>
            <a:r>
              <a:rPr lang="en-US" dirty="0" smtClean="0"/>
              <a:t>Daily standups</a:t>
            </a:r>
          </a:p>
          <a:p>
            <a:pPr lvl="1"/>
            <a:r>
              <a:rPr lang="en-US" dirty="0" smtClean="0"/>
              <a:t>Sprint planning, review, retro</a:t>
            </a:r>
          </a:p>
          <a:p>
            <a:pPr lvl="2"/>
            <a:r>
              <a:rPr lang="en-US" dirty="0" smtClean="0"/>
              <a:t>Fibonacci sizing</a:t>
            </a:r>
          </a:p>
          <a:p>
            <a:pPr lvl="2"/>
            <a:r>
              <a:rPr lang="en-US" dirty="0" smtClean="0"/>
              <a:t>Demos</a:t>
            </a:r>
          </a:p>
          <a:p>
            <a:pPr lvl="2"/>
            <a:r>
              <a:rPr lang="en-US" i="1" dirty="0" smtClean="0"/>
              <a:t>Sticky Notes</a:t>
            </a:r>
          </a:p>
          <a:p>
            <a:r>
              <a:rPr lang="en-US" b="1" dirty="0" smtClean="0"/>
              <a:t>Confluence</a:t>
            </a:r>
          </a:p>
          <a:p>
            <a:r>
              <a:rPr lang="en-US" b="1" dirty="0" smtClean="0"/>
              <a:t>Ideation sessions</a:t>
            </a:r>
          </a:p>
          <a:p>
            <a:r>
              <a:rPr lang="en-US" b="1" dirty="0" smtClean="0"/>
              <a:t>Prototyping</a:t>
            </a:r>
            <a:r>
              <a:rPr lang="en-US" dirty="0" smtClean="0"/>
              <a:t> and </a:t>
            </a:r>
            <a:r>
              <a:rPr lang="en-US" b="1" dirty="0" smtClean="0"/>
              <a:t>User </a:t>
            </a:r>
            <a:r>
              <a:rPr lang="en-US" b="1" dirty="0"/>
              <a:t>T</a:t>
            </a:r>
            <a:r>
              <a:rPr lang="en-US" b="1" dirty="0" smtClean="0"/>
              <a:t>esting</a:t>
            </a:r>
          </a:p>
          <a:p>
            <a:r>
              <a:rPr lang="en-US" b="1" dirty="0" smtClean="0">
                <a:solidFill>
                  <a:schemeClr val="accent1"/>
                </a:solidFill>
              </a:rPr>
              <a:t>Fun</a:t>
            </a:r>
            <a:r>
              <a:rPr lang="en-US" b="1" dirty="0">
                <a:solidFill>
                  <a:schemeClr val="accent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2939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Team Experience with Scrum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you have past experience with Agile?</a:t>
            </a:r>
            <a:endParaRPr lang="en-US" dirty="0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84" r="39119"/>
          <a:stretch/>
        </p:blipFill>
        <p:spPr>
          <a:xfrm>
            <a:off x="2057400" y="2895600"/>
            <a:ext cx="5181600" cy="198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6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Team Experience with Scrum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Rate your understanding of Agile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93" t="14540" b="-1"/>
          <a:stretch/>
        </p:blipFill>
        <p:spPr>
          <a:xfrm>
            <a:off x="1219200" y="2798858"/>
            <a:ext cx="6938575" cy="351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5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2417"/>
            <a:ext cx="9144000" cy="4473166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Organization of Features and Backlog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25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Pages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7245"/>
            <a:ext cx="9144000" cy="448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7" b="7126"/>
          <a:stretch/>
        </p:blipFill>
        <p:spPr>
          <a:xfrm>
            <a:off x="0" y="425450"/>
            <a:ext cx="9144000" cy="5943600"/>
          </a:xfrm>
        </p:spPr>
      </p:pic>
    </p:spTree>
    <p:extLst>
      <p:ext uri="{BB962C8B-B14F-4D97-AF65-F5344CB8AC3E}">
        <p14:creationId xmlns:p14="http://schemas.microsoft.com/office/powerpoint/2010/main" val="388359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324" y="0"/>
            <a:ext cx="6869876" cy="68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3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23950" y="844112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7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824"/>
            <a:ext cx="8229600" cy="1143000"/>
          </a:xfrm>
        </p:spPr>
        <p:txBody>
          <a:bodyPr/>
          <a:lstStyle/>
          <a:p>
            <a:r>
              <a:rPr lang="en-US" dirty="0" smtClean="0"/>
              <a:t>Prototyping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Screen Shot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9144000" cy="564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7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Stylists</a:t>
            </a:r>
            <a:r>
              <a:rPr lang="en-US" dirty="0" smtClean="0"/>
              <a:t> (2)</a:t>
            </a:r>
          </a:p>
          <a:p>
            <a:r>
              <a:rPr lang="en-US" b="1" dirty="0" smtClean="0"/>
              <a:t>Buyers</a:t>
            </a:r>
            <a:r>
              <a:rPr lang="en-US" dirty="0" smtClean="0"/>
              <a:t> (4)</a:t>
            </a:r>
          </a:p>
          <a:p>
            <a:r>
              <a:rPr lang="en-US" b="1" dirty="0" smtClean="0"/>
              <a:t>Site</a:t>
            </a:r>
            <a:r>
              <a:rPr lang="en-US" dirty="0" smtClean="0"/>
              <a:t> </a:t>
            </a:r>
            <a:r>
              <a:rPr lang="en-US" b="1" dirty="0" smtClean="0"/>
              <a:t>Merchandizing</a:t>
            </a:r>
            <a:r>
              <a:rPr lang="en-US" dirty="0" smtClean="0"/>
              <a:t> (1)</a:t>
            </a:r>
          </a:p>
          <a:p>
            <a:r>
              <a:rPr lang="en-US" b="1" dirty="0" smtClean="0"/>
              <a:t>Photo</a:t>
            </a:r>
            <a:r>
              <a:rPr lang="en-US" dirty="0" smtClean="0"/>
              <a:t> </a:t>
            </a:r>
            <a:r>
              <a:rPr lang="en-US" b="1" dirty="0" smtClean="0"/>
              <a:t>Studio</a:t>
            </a:r>
            <a:r>
              <a:rPr lang="en-US" dirty="0" smtClean="0"/>
              <a:t> (1)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 rot="20011149">
            <a:off x="4565343" y="4664757"/>
            <a:ext cx="4051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1"/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THANK YOU</a:t>
            </a:r>
            <a:endParaRPr lang="en-US" sz="5400" b="1" cap="none" spc="0" dirty="0">
              <a:ln w="12700">
                <a:solidFill>
                  <a:schemeClr val="tx1"/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515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59"/>
          <a:stretch/>
        </p:blipFill>
        <p:spPr>
          <a:xfrm>
            <a:off x="0" y="1066800"/>
            <a:ext cx="9144000" cy="42013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4793" y="1905000"/>
            <a:ext cx="7315200" cy="3048000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95145" y="4953000"/>
            <a:ext cx="4599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00B050"/>
                </a:solidFill>
              </a:rPr>
              <a:t>Outfit Builder</a:t>
            </a:r>
            <a:endParaRPr lang="en-US" sz="4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43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66799"/>
            <a:ext cx="9144000" cy="442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7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628" y="4055385"/>
            <a:ext cx="4112172" cy="27349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6" y="1360711"/>
            <a:ext cx="4101743" cy="25635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89257" y="3028395"/>
            <a:ext cx="339853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Zappos</a:t>
            </a:r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VIP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628" y="1354192"/>
            <a:ext cx="4112172" cy="257010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975966" y="3048146"/>
            <a:ext cx="355376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Google Doc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796" y="5039167"/>
            <a:ext cx="1535136" cy="15351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3970070"/>
            <a:ext cx="2971800" cy="17910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29352" y="5761075"/>
            <a:ext cx="4007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Outfit Builder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9256" y="152400"/>
            <a:ext cx="4939943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Version 0</a:t>
            </a:r>
            <a:endParaRPr lang="en-US" sz="6600" b="1" cap="none" spc="0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1" y="192048"/>
            <a:ext cx="4495799" cy="10287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58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628" y="4055385"/>
            <a:ext cx="4112172" cy="27349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6" y="1360711"/>
            <a:ext cx="4101743" cy="25635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89257" y="3028395"/>
            <a:ext cx="339853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Zappos</a:t>
            </a:r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VIP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628" y="1354192"/>
            <a:ext cx="4112172" cy="257010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975966" y="3048146"/>
            <a:ext cx="355376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Google Doc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3970070"/>
            <a:ext cx="2971800" cy="17910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29352" y="5761075"/>
            <a:ext cx="4007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Outfit Builder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9256" y="152400"/>
            <a:ext cx="4939943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Version 0</a:t>
            </a:r>
            <a:endParaRPr lang="en-US" sz="6600" b="1" cap="none" spc="0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1" y="192048"/>
            <a:ext cx="4495799" cy="10287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92D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256" y="152400"/>
            <a:ext cx="4939943" cy="11079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Version 1</a:t>
            </a:r>
            <a:endParaRPr lang="en-US" sz="6600" b="1" cap="none" spc="0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1" y="192048"/>
            <a:ext cx="4495799" cy="10287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91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099" y="2209800"/>
            <a:ext cx="4595701" cy="30565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6" y="1360711"/>
            <a:ext cx="4101743" cy="25635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89257" y="3028395"/>
            <a:ext cx="339853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Zappos</a:t>
            </a:r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VIP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3970070"/>
            <a:ext cx="2971800" cy="17910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29352" y="4313275"/>
            <a:ext cx="4007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Outfit Builder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9256" y="152400"/>
            <a:ext cx="4939943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Version 0</a:t>
            </a:r>
            <a:endParaRPr lang="en-US" sz="6600" b="1" cap="none" spc="0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1" y="192048"/>
            <a:ext cx="4495799" cy="10287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92D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256" y="152400"/>
            <a:ext cx="4939943" cy="1107996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Version 2 </a:t>
            </a:r>
            <a:endParaRPr lang="en-US" sz="6600" b="1" cap="none" spc="0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1" y="192048"/>
            <a:ext cx="4495799" cy="10287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91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7" y="1905000"/>
            <a:ext cx="4310298" cy="27349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533400" y="4663956"/>
            <a:ext cx="339853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Zappos</a:t>
            </a:r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VIP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9256" y="152400"/>
            <a:ext cx="4939943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Version 0</a:t>
            </a:r>
            <a:endParaRPr lang="en-US" sz="6600" b="1" cap="none" spc="0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1" y="192048"/>
            <a:ext cx="4495799" cy="10287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92D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256" y="152400"/>
            <a:ext cx="4939943" cy="1107996"/>
          </a:xfrm>
          <a:prstGeom prst="rect">
            <a:avLst/>
          </a:prstGeom>
          <a:solidFill>
            <a:srgbClr val="92D05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Version 3 </a:t>
            </a:r>
            <a:endParaRPr lang="en-US" sz="6600" b="1" cap="none" spc="0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1" y="192048"/>
            <a:ext cx="4495799" cy="10287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92D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086" y="1905000"/>
            <a:ext cx="4569714" cy="27349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831372" y="4640308"/>
            <a:ext cx="4007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chemeClr val="tx1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Outfit Builder</a:t>
            </a:r>
            <a:endParaRPr lang="en-US" sz="5400" b="0" cap="none" spc="0" dirty="0">
              <a:ln w="18415" cmpd="sng">
                <a:solidFill>
                  <a:schemeClr val="tx1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947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process takes </a:t>
            </a:r>
            <a:r>
              <a:rPr lang="en-US" b="1" dirty="0" smtClean="0"/>
              <a:t>approx. 17 days</a:t>
            </a:r>
            <a:endParaRPr lang="en-US" dirty="0" smtClean="0"/>
          </a:p>
          <a:p>
            <a:pPr algn="ctr"/>
            <a:endParaRPr lang="en-US" b="1" dirty="0"/>
          </a:p>
          <a:p>
            <a:pPr marL="68580" indent="0" algn="ctr">
              <a:buNone/>
            </a:pPr>
            <a:r>
              <a:rPr lang="en-US" b="1" dirty="0" smtClean="0"/>
              <a:t>39 days – </a:t>
            </a:r>
            <a:r>
              <a:rPr lang="en-US" b="1" dirty="0" smtClean="0">
                <a:solidFill>
                  <a:srgbClr val="92D050"/>
                </a:solidFill>
              </a:rPr>
              <a:t>22 saved (-56%) </a:t>
            </a:r>
            <a:r>
              <a:rPr lang="en-US" b="1" dirty="0" smtClean="0"/>
              <a:t>= 17 days</a:t>
            </a:r>
          </a:p>
          <a:p>
            <a:pPr marL="68580" indent="0" algn="ctr">
              <a:buNone/>
            </a:pPr>
            <a:endParaRPr lang="en-US" b="1" dirty="0"/>
          </a:p>
          <a:p>
            <a:r>
              <a:rPr lang="en-US" dirty="0" smtClean="0"/>
              <a:t>Currently 80 – 100 outfits created a month</a:t>
            </a:r>
          </a:p>
          <a:p>
            <a:endParaRPr lang="en-US" dirty="0" smtClean="0"/>
          </a:p>
          <a:p>
            <a:pPr marL="68580" indent="0" algn="ctr">
              <a:buNone/>
            </a:pPr>
            <a:r>
              <a:rPr lang="en-US" b="1" dirty="0" smtClean="0"/>
              <a:t>More outfits will be created </a:t>
            </a:r>
            <a:r>
              <a:rPr lang="en-US" dirty="0" smtClean="0"/>
              <a:t>since the tool will allow them to be built faster.</a:t>
            </a:r>
          </a:p>
        </p:txBody>
      </p:sp>
    </p:spTree>
    <p:extLst>
      <p:ext uri="{BB962C8B-B14F-4D97-AF65-F5344CB8AC3E}">
        <p14:creationId xmlns:p14="http://schemas.microsoft.com/office/powerpoint/2010/main" val="395000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7642</TotalTime>
  <Words>950</Words>
  <Application>Microsoft Office PowerPoint</Application>
  <PresentationFormat>On-screen Show (4:3)</PresentationFormat>
  <Paragraphs>166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Austin</vt:lpstr>
      <vt:lpstr>Office Theme</vt:lpstr>
      <vt:lpstr>Horizon</vt:lpstr>
      <vt:lpstr>1_Office Theme</vt:lpstr>
      <vt:lpstr>Outfit Builder</vt:lpstr>
      <vt:lpstr>The Team</vt:lpstr>
      <vt:lpstr>Agenda</vt:lpstr>
      <vt:lpstr>PowerPoint Presentation</vt:lpstr>
      <vt:lpstr>PowerPoint Presentation</vt:lpstr>
      <vt:lpstr>Main Considerations</vt:lpstr>
      <vt:lpstr>Team Challenges</vt:lpstr>
      <vt:lpstr>Our Process</vt:lpstr>
      <vt:lpstr>Team Experience with Scrum</vt:lpstr>
      <vt:lpstr>Team Experience with Scrum</vt:lpstr>
      <vt:lpstr>Organization of Features and Backlog</vt:lpstr>
      <vt:lpstr>Feature Pages</vt:lpstr>
      <vt:lpstr>PowerPoint Presentation</vt:lpstr>
      <vt:lpstr>PowerPoint Presentation</vt:lpstr>
      <vt:lpstr>PowerPoint Presentation</vt:lpstr>
      <vt:lpstr>Prototyping</vt:lpstr>
      <vt:lpstr>User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</vt:vector>
  </TitlesOfParts>
  <Company>Zappos.com,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</dc:title>
  <dc:creator>Bryan Goodyear</dc:creator>
  <cp:lastModifiedBy>Bryan Goodyear</cp:lastModifiedBy>
  <cp:revision>70</cp:revision>
  <dcterms:created xsi:type="dcterms:W3CDTF">2014-08-07T16:08:03Z</dcterms:created>
  <dcterms:modified xsi:type="dcterms:W3CDTF">2014-08-15T18:02:11Z</dcterms:modified>
</cp:coreProperties>
</file>